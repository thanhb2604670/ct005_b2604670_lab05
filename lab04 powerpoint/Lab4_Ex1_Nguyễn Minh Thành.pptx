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31" autoAdjust="0"/>
    <p:restoredTop sz="94660"/>
  </p:normalViewPr>
  <p:slideViewPr>
    <p:cSldViewPr snapToGrid="0">
      <p:cViewPr varScale="1">
        <p:scale>
          <a:sx n="49" d="100"/>
          <a:sy n="49" d="100"/>
        </p:scale>
        <p:origin x="62" y="4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1325F2-C0FB-4EEB-9A9A-F1D0D3650252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5A4E15-DF7E-4AFC-9F58-7534BC3EC4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512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5A4E15-DF7E-4AFC-9F58-7534BC3EC4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305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25718-7C7B-5C41-DC9C-C21916900A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57ADB9-0C16-2AF8-25B4-3A1319AED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38C9B6-1A36-8EA3-DFA5-77BA8D378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EAC3-C8A8-4FE0-8AA3-6FF07BEF62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B1C2B3-7ADE-AAB9-1CBF-80FB4E93D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1983F-B642-28D1-B095-709A13724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76654-9FCF-4E3C-8AED-55090F31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141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B35C0-437E-BFBD-6427-76ED12134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259F8-8577-09DC-A354-A39E38F8B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31466-BAD8-131A-C097-069ACACD7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EAC3-C8A8-4FE0-8AA3-6FF07BEF62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4821A5-EEAD-813B-73EB-B193113B9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3F1E8-5B0D-87F3-0393-F2F1A2FA0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76654-9FCF-4E3C-8AED-55090F31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013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C1B31-84AD-F796-5C78-3ED09A355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F764DF-517A-34FB-AD97-3B0E63FC8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69EBC-F6AA-1516-9F2D-717447B99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EAC3-C8A8-4FE0-8AA3-6FF07BEF62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6E5FE-CCC8-0005-25FA-841446F00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9041-6C6F-1DED-C6EE-438839B51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76654-9FCF-4E3C-8AED-55090F31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27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8B3FE-1DAF-D9FD-4230-975CA91A9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A6DB5-79B9-2B32-DF59-46B69C04F5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187B2-1BFC-9871-A373-FDED71AC0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50ACD8-6AA5-CD1C-24B2-4B072E408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EAC3-C8A8-4FE0-8AA3-6FF07BEF62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232D6-5A20-4111-F7AC-B0023AD17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4EDB0D-DEC0-D9E6-9D1A-16ADBCC8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76654-9FCF-4E3C-8AED-55090F31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44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D1C36-B37E-94CE-A367-7FDFDF2AB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FB1389-949C-3592-4043-ECD9B96E5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8A17D-FDC3-097C-3300-32F22EDB6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F14088-5FC6-0164-8E74-A3AA762F9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04886E-FC06-9692-7044-28D460D525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E92EEA-4059-10E7-32D2-0D686FD8A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EAC3-C8A8-4FE0-8AA3-6FF07BEF62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68E57D-6C9D-E20B-8445-A218EC22B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457A64-8D55-8B57-DFA4-1528EBB24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76654-9FCF-4E3C-8AED-55090F31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43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2C1C1-B6E0-53BA-E2C7-5E3C4592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12C6F8-5E8E-B526-5E83-FFA0E827D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EAC3-C8A8-4FE0-8AA3-6FF07BEF62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99D06-2A64-4840-7143-02BDA6DF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6862A-93DC-52CD-4B6F-F7B7A2524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76654-9FCF-4E3C-8AED-55090F31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489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228095-4F50-922C-35E3-55FC7D2A7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EAC3-C8A8-4FE0-8AA3-6FF07BEF62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41F9A5-15A1-468A-6271-D1D52B413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D844B-6466-E371-99FC-C9F347830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76654-9FCF-4E3C-8AED-55090F31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09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E9CDE-CC3D-9DDC-7872-324CFE01F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71909-FD4D-609D-1EA8-1D1F09259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090722-E305-75D7-8555-53292E251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DF0EC-1453-F3BF-532A-27FF6B293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EAC3-C8A8-4FE0-8AA3-6FF07BEF62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53D5E4-E114-BF5B-D25A-DC5895EF1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AD432-54AA-C3C8-9E49-D9E1EEF8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76654-9FCF-4E3C-8AED-55090F31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245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E0B18-9896-768A-2EDA-B4C31164A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E4D42E-BA48-2435-986C-DFCEFCE9BE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FC1B7E-AD7C-9CDD-CBA3-F5D566B5A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58BBCD-B6B9-2FA1-1B64-248B8BB1F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EAC3-C8A8-4FE0-8AA3-6FF07BEF62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03EFC-A714-8B0A-45A1-3BAA7F6D8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F2350-A4CA-5168-B9B7-5D82DA2AD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76654-9FCF-4E3C-8AED-55090F31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055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D5B73-4164-D31B-03A9-8DA643588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09A7A-F8A6-E1E1-3923-FC67264935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40AB3-99E4-EECE-9935-11A08DB02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EAC3-C8A8-4FE0-8AA3-6FF07BEF62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44621-1C08-68D5-DCC6-C73791011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7E780E-B13E-CEE2-E35C-5E33C2AF4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76654-9FCF-4E3C-8AED-55090F31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181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988A09-B638-AB1F-C5B9-E45D1B1F5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B1562-3443-F441-25AD-5ED0C99DA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D26AC-5692-8A8F-D36E-A4A8D9BC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EAC3-C8A8-4FE0-8AA3-6FF07BEF62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55D0E-E241-C173-0256-506B9961B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CCAD1-6400-85C0-4177-1CD7B2C66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76654-9FCF-4E3C-8AED-55090F31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23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2F6030-0E66-CB2D-D965-91AF2259B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F4682-4250-E823-2B3E-6915394BE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A3FA8-956D-61E9-2CCA-38BFFAE1A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C9EAC3-C8A8-4FE0-8AA3-6FF07BEF62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8B7D5-CE56-A8F5-CDED-329709D00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E6311-D0CD-E643-F9E9-754F21D56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076654-9FCF-4E3C-8AED-55090F3128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357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.xml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slide" Target="slide4.xml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DF8DAD-30FD-0937-E6F3-63AB12C57B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714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02915C-6E0A-37AA-6227-92C05FE87A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1837"/>
            <a:ext cx="9144000" cy="1508125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K2D"/>
              </a:rPr>
              <a:t>BỐ CỤC MỘT BÀI THUYẾT TRÌNH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4817F9-2299-5E2B-7562-CBF01D816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127617"/>
          </a:xfrm>
        </p:spPr>
        <p:txBody>
          <a:bodyPr/>
          <a:lstStyle/>
          <a:p>
            <a:r>
              <a:rPr lang="en-US" sz="4000" dirty="0" err="1">
                <a:solidFill>
                  <a:schemeClr val="bg1"/>
                </a:solidFill>
                <a:latin typeface="Readex Pro"/>
              </a:rPr>
              <a:t>ThS</a:t>
            </a:r>
            <a:r>
              <a:rPr lang="en-US" sz="4000" dirty="0">
                <a:solidFill>
                  <a:schemeClr val="bg1"/>
                </a:solidFill>
                <a:latin typeface="Readex Pro"/>
              </a:rPr>
              <a:t>. </a:t>
            </a:r>
            <a:r>
              <a:rPr lang="en-US" sz="4000" dirty="0" err="1">
                <a:solidFill>
                  <a:schemeClr val="bg1"/>
                </a:solidFill>
                <a:latin typeface="Readex Pro"/>
              </a:rPr>
              <a:t>Họ</a:t>
            </a:r>
            <a:r>
              <a:rPr lang="en-US" sz="4000" dirty="0">
                <a:solidFill>
                  <a:schemeClr val="bg1"/>
                </a:solidFill>
                <a:latin typeface="Readex Pro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Readex Pro"/>
              </a:rPr>
              <a:t>và</a:t>
            </a:r>
            <a:r>
              <a:rPr lang="en-US" sz="4000" dirty="0">
                <a:solidFill>
                  <a:schemeClr val="bg1"/>
                </a:solidFill>
                <a:latin typeface="Readex Pro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Readex Pro"/>
              </a:rPr>
              <a:t>Tên</a:t>
            </a:r>
            <a:endParaRPr lang="en-US" sz="4000" dirty="0">
              <a:solidFill>
                <a:schemeClr val="bg1"/>
              </a:solidFill>
              <a:latin typeface="Readex Pro"/>
            </a:endParaRP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EA8040-CCDB-D92F-5D65-8EB6FA7F5A1E}"/>
              </a:ext>
            </a:extLst>
          </p:cNvPr>
          <p:cNvSpPr txBox="1"/>
          <p:nvPr/>
        </p:nvSpPr>
        <p:spPr>
          <a:xfrm>
            <a:off x="1524000" y="472965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  <a:latin typeface="Readex Pro"/>
              </a:rPr>
              <a:t>Trích</a:t>
            </a:r>
            <a:r>
              <a:rPr lang="en-US" sz="2400" dirty="0">
                <a:solidFill>
                  <a:schemeClr val="bg1"/>
                </a:solidFill>
                <a:latin typeface="Readex Pro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Readex Pro"/>
              </a:rPr>
              <a:t>từ</a:t>
            </a:r>
            <a:r>
              <a:rPr lang="en-US" sz="2400" dirty="0">
                <a:solidFill>
                  <a:schemeClr val="bg1"/>
                </a:solidFill>
                <a:latin typeface="Readex Pro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Readex Pro"/>
              </a:rPr>
              <a:t>Tủ</a:t>
            </a:r>
            <a:r>
              <a:rPr lang="en-US" sz="2400" dirty="0">
                <a:solidFill>
                  <a:schemeClr val="bg1"/>
                </a:solidFill>
                <a:latin typeface="Readex Pro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Readex Pro"/>
              </a:rPr>
              <a:t>sách</a:t>
            </a:r>
            <a:r>
              <a:rPr lang="en-US" sz="2400" dirty="0">
                <a:solidFill>
                  <a:schemeClr val="bg1"/>
                </a:solidFill>
                <a:latin typeface="Readex Pro"/>
              </a:rPr>
              <a:t> Khoa </a:t>
            </a:r>
            <a:r>
              <a:rPr lang="en-US" sz="2400" dirty="0" err="1">
                <a:solidFill>
                  <a:schemeClr val="bg1"/>
                </a:solidFill>
                <a:latin typeface="Readex Pro"/>
              </a:rPr>
              <a:t>học</a:t>
            </a:r>
            <a:r>
              <a:rPr lang="en-US" sz="2400" dirty="0">
                <a:solidFill>
                  <a:schemeClr val="bg1"/>
                </a:solidFill>
                <a:latin typeface="Readex Pro"/>
              </a:rPr>
              <a:t> VLOS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1DB131-9B06-D464-31D0-A2F882257519}"/>
              </a:ext>
            </a:extLst>
          </p:cNvPr>
          <p:cNvSpPr txBox="1"/>
          <p:nvPr/>
        </p:nvSpPr>
        <p:spPr>
          <a:xfrm>
            <a:off x="257250" y="6321962"/>
            <a:ext cx="756745" cy="369332"/>
          </a:xfrm>
          <a:prstGeom prst="rect">
            <a:avLst/>
          </a:prstGeom>
          <a:solidFill>
            <a:srgbClr val="00B0F0"/>
          </a:solidFill>
        </p:spPr>
        <p:txBody>
          <a:bodyPr wrap="square" numCol="1" rtlCol="0" anchor="ctr">
            <a:spAutoFit/>
          </a:bodyPr>
          <a:lstStyle/>
          <a:p>
            <a:pPr algn="ctr"/>
            <a:r>
              <a:rPr lang="vi-VN" b="1" dirty="0">
                <a:solidFill>
                  <a:schemeClr val="bg1"/>
                </a:solidFill>
                <a:latin typeface="K2D"/>
              </a:rPr>
              <a:t>CTU</a:t>
            </a:r>
            <a:endParaRPr lang="en-US" b="1" dirty="0">
              <a:solidFill>
                <a:schemeClr val="bg1"/>
              </a:solidFill>
              <a:latin typeface="K2D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208251-826E-469D-8199-C0D2DCDD8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977" y="6321962"/>
            <a:ext cx="9588615" cy="12159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A627772-9F13-A3A7-3FF8-995FFD5B417C}"/>
              </a:ext>
            </a:extLst>
          </p:cNvPr>
          <p:cNvSpPr txBox="1"/>
          <p:nvPr/>
        </p:nvSpPr>
        <p:spPr>
          <a:xfrm>
            <a:off x="1013995" y="6321962"/>
            <a:ext cx="17342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chemeClr val="bg1"/>
                </a:solidFill>
                <a:latin typeface="K2D"/>
              </a:rPr>
              <a:t>ĐẠI HỌC CẦN THƠ</a:t>
            </a:r>
          </a:p>
          <a:p>
            <a:r>
              <a:rPr lang="vi-VN" sz="800" dirty="0">
                <a:solidFill>
                  <a:schemeClr val="bg1"/>
                </a:solidFill>
                <a:latin typeface="Readex Pro"/>
              </a:rPr>
              <a:t>Cộng đồng – Toàn diện – Ưu việt</a:t>
            </a:r>
            <a:endParaRPr lang="en-US" sz="800" dirty="0">
              <a:solidFill>
                <a:schemeClr val="bg1"/>
              </a:solidFill>
              <a:latin typeface="Readex Pro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20D832-CABA-98C2-BD8F-2DFDC7BE54C5}"/>
              </a:ext>
            </a:extLst>
          </p:cNvPr>
          <p:cNvSpPr txBox="1"/>
          <p:nvPr/>
        </p:nvSpPr>
        <p:spPr>
          <a:xfrm>
            <a:off x="10295642" y="6257381"/>
            <a:ext cx="1586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www.ctu.edu.vn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5E29C26-F479-4368-3D9A-5E4019A144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419" y="357543"/>
            <a:ext cx="1825161" cy="17861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E00091-BC26-776F-1E45-BDD0F3C93F60}"/>
              </a:ext>
            </a:extLst>
          </p:cNvPr>
          <p:cNvSpPr txBox="1"/>
          <p:nvPr/>
        </p:nvSpPr>
        <p:spPr>
          <a:xfrm>
            <a:off x="4641630" y="4520056"/>
            <a:ext cx="2908740" cy="8799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3588309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A97D1-733E-27A5-A180-D3213FCC9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7713"/>
          </a:xfrm>
        </p:spPr>
        <p:txBody>
          <a:bodyPr/>
          <a:lstStyle/>
          <a:p>
            <a:pPr lvl="0"/>
            <a:r>
              <a:rPr lang="en-US" sz="3200" dirty="0" err="1">
                <a:latin typeface="Readex Pro"/>
              </a:rPr>
              <a:t>Phần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mở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đầu</a:t>
            </a:r>
            <a:endParaRPr lang="vi-VN" sz="3200" dirty="0">
              <a:latin typeface="Readex Pro"/>
            </a:endParaRPr>
          </a:p>
          <a:p>
            <a:pPr marL="457200" lvl="1" indent="0">
              <a:buNone/>
            </a:pPr>
            <a:r>
              <a:rPr lang="vi-VN" dirty="0"/>
              <a:t>- </a:t>
            </a:r>
            <a:r>
              <a:rPr lang="en-US" sz="2800" dirty="0" err="1">
                <a:latin typeface="Readex Pro"/>
              </a:rPr>
              <a:t>Cần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đạt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mục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đích</a:t>
            </a:r>
            <a:endParaRPr lang="vi-VN" sz="2800" dirty="0">
              <a:latin typeface="Readex Pro"/>
            </a:endParaRPr>
          </a:p>
          <a:p>
            <a:pPr lvl="0"/>
            <a:r>
              <a:rPr lang="en-US" sz="3200" dirty="0" err="1">
                <a:latin typeface="Readex Pro"/>
              </a:rPr>
              <a:t>Phần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chính</a:t>
            </a:r>
            <a:endParaRPr lang="vi-VN" sz="3200" dirty="0">
              <a:latin typeface="Readex Pro"/>
            </a:endParaRPr>
          </a:p>
          <a:p>
            <a:pPr marL="457200" lvl="1" indent="0">
              <a:buNone/>
            </a:pPr>
            <a:r>
              <a:rPr lang="vi-VN" sz="2800" dirty="0">
                <a:latin typeface="Readex Pro"/>
              </a:rPr>
              <a:t>- </a:t>
            </a:r>
            <a:r>
              <a:rPr lang="en-US" sz="2800" dirty="0" err="1">
                <a:latin typeface="Readex Pro"/>
              </a:rPr>
              <a:t>Đưa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ra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giải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pháp</a:t>
            </a:r>
            <a:r>
              <a:rPr lang="en-US" sz="2800" dirty="0">
                <a:latin typeface="Readex Pro"/>
              </a:rPr>
              <a:t>, ý </a:t>
            </a:r>
            <a:r>
              <a:rPr lang="en-US" sz="2800" dirty="0" err="1">
                <a:latin typeface="Readex Pro"/>
              </a:rPr>
              <a:t>kiến</a:t>
            </a:r>
            <a:endParaRPr lang="vi-VN" sz="2800" dirty="0">
              <a:latin typeface="Readex Pro"/>
            </a:endParaRPr>
          </a:p>
          <a:p>
            <a:pPr lvl="0"/>
            <a:r>
              <a:rPr lang="en-US" sz="3200" dirty="0" err="1">
                <a:latin typeface="Readex Pro"/>
              </a:rPr>
              <a:t>Phần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kết</a:t>
            </a:r>
            <a:endParaRPr lang="en-US" sz="3200" dirty="0">
              <a:latin typeface="Readex Pro"/>
            </a:endParaRPr>
          </a:p>
          <a:p>
            <a:pPr marL="457200" lvl="1" indent="0">
              <a:buNone/>
            </a:pPr>
            <a:r>
              <a:rPr lang="vi-VN" sz="2800" dirty="0">
                <a:latin typeface="Readex Pro"/>
              </a:rPr>
              <a:t>- </a:t>
            </a:r>
            <a:r>
              <a:rPr lang="en-US" sz="2800" dirty="0" err="1">
                <a:latin typeface="Readex Pro"/>
              </a:rPr>
              <a:t>Tóm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tắt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các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nội</a:t>
            </a:r>
            <a:r>
              <a:rPr lang="en-US" sz="2800" dirty="0">
                <a:latin typeface="Readex Pro"/>
              </a:rPr>
              <a:t> dung </a:t>
            </a:r>
            <a:r>
              <a:rPr lang="en-US" sz="2800" dirty="0" err="1">
                <a:latin typeface="Readex Pro"/>
              </a:rPr>
              <a:t>đã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trình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bày</a:t>
            </a:r>
            <a:endParaRPr lang="en-US" sz="2800" dirty="0">
              <a:latin typeface="Readex Pro"/>
            </a:endParaRP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CD653D4-860C-243D-38AA-006AAA892288}"/>
              </a:ext>
            </a:extLst>
          </p:cNvPr>
          <p:cNvSpPr txBox="1">
            <a:spLocks/>
          </p:cNvSpPr>
          <p:nvPr/>
        </p:nvSpPr>
        <p:spPr>
          <a:xfrm>
            <a:off x="838200" y="32729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B0F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err="1">
                <a:latin typeface="K2D"/>
              </a:rPr>
              <a:t>Giới</a:t>
            </a:r>
            <a:r>
              <a:rPr lang="en-US" sz="3600" dirty="0">
                <a:latin typeface="K2D"/>
              </a:rPr>
              <a:t> </a:t>
            </a:r>
            <a:r>
              <a:rPr lang="en-US" sz="3600" dirty="0" err="1">
                <a:latin typeface="K2D"/>
              </a:rPr>
              <a:t>thiệu</a:t>
            </a:r>
            <a:endParaRPr lang="en-US" sz="3600" dirty="0">
              <a:latin typeface="K2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A7A698-DF7D-0131-47A3-7FB5682AF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88" y="723831"/>
            <a:ext cx="505879" cy="505879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9BCFDA6-4AFC-B019-A009-DDC54B420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7583" y="6284654"/>
            <a:ext cx="328590" cy="256626"/>
          </a:xfrm>
          <a:solidFill>
            <a:srgbClr val="00B0F0"/>
          </a:solidFill>
        </p:spPr>
        <p:txBody>
          <a:bodyPr/>
          <a:lstStyle>
            <a:lvl1pPr algn="ctr">
              <a:defRPr/>
            </a:lvl1pPr>
          </a:lstStyle>
          <a:p>
            <a:pPr algn="ctr"/>
            <a:fld id="{9ED14E6A-7744-4277-B63E-90309E0D9F07}" type="slidenum">
              <a:rPr lang="en-US" smtClean="0"/>
              <a:pPr algn="ctr"/>
              <a:t>2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7D8DB2-E164-EAA9-8AB0-58987F35298C}"/>
              </a:ext>
            </a:extLst>
          </p:cNvPr>
          <p:cNvSpPr txBox="1"/>
          <p:nvPr/>
        </p:nvSpPr>
        <p:spPr>
          <a:xfrm>
            <a:off x="453656" y="6220882"/>
            <a:ext cx="756745" cy="369332"/>
          </a:xfrm>
          <a:prstGeom prst="rect">
            <a:avLst/>
          </a:prstGeom>
          <a:solidFill>
            <a:srgbClr val="00B0F0"/>
          </a:solidFill>
        </p:spPr>
        <p:txBody>
          <a:bodyPr wrap="square" numCol="1" rtlCol="0" anchor="ctr">
            <a:spAutoFit/>
          </a:bodyPr>
          <a:lstStyle/>
          <a:p>
            <a:pPr algn="ctr"/>
            <a:r>
              <a:rPr lang="vi-VN" b="1" dirty="0">
                <a:solidFill>
                  <a:schemeClr val="bg1"/>
                </a:solidFill>
                <a:latin typeface="K2D"/>
              </a:rPr>
              <a:t>CTU</a:t>
            </a:r>
            <a:endParaRPr lang="en-US" b="1" dirty="0">
              <a:solidFill>
                <a:schemeClr val="bg1"/>
              </a:solidFill>
              <a:latin typeface="K2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027ABE-44AF-0BF5-AAC9-8DB1263E77CE}"/>
              </a:ext>
            </a:extLst>
          </p:cNvPr>
          <p:cNvSpPr txBox="1"/>
          <p:nvPr/>
        </p:nvSpPr>
        <p:spPr>
          <a:xfrm>
            <a:off x="1147352" y="6190105"/>
            <a:ext cx="17342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0070C0"/>
                </a:solidFill>
                <a:latin typeface="K2D"/>
              </a:rPr>
              <a:t>ĐẠI HỌC CẦN THƠ</a:t>
            </a:r>
          </a:p>
          <a:p>
            <a:r>
              <a:rPr lang="vi-VN" sz="800" dirty="0">
                <a:solidFill>
                  <a:srgbClr val="00B0F0"/>
                </a:solidFill>
                <a:latin typeface="Readex Pro"/>
              </a:rPr>
              <a:t>Cộng đồng – Toàn diện – Ưu việt</a:t>
            </a:r>
            <a:endParaRPr lang="en-US" sz="800" dirty="0">
              <a:solidFill>
                <a:srgbClr val="00B0F0"/>
              </a:solidFill>
              <a:latin typeface="Readex Pr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8641D7-AF93-1FE4-B45B-1AFD9EA6584C}"/>
              </a:ext>
            </a:extLst>
          </p:cNvPr>
          <p:cNvSpPr txBox="1"/>
          <p:nvPr/>
        </p:nvSpPr>
        <p:spPr>
          <a:xfrm>
            <a:off x="10056182" y="6236141"/>
            <a:ext cx="1586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www.ctu.edu.vn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D21535C-A67C-FE76-0668-DC55EE785E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553" y="6175822"/>
            <a:ext cx="9051225" cy="19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803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F37BA-2D81-7428-FEC1-A5705144D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200" dirty="0">
                <a:latin typeface="Readex Pro"/>
              </a:rPr>
              <a:t>Thu </a:t>
            </a:r>
            <a:r>
              <a:rPr lang="en-US" sz="3200" dirty="0" err="1">
                <a:latin typeface="Readex Pro"/>
              </a:rPr>
              <a:t>hút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sự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chú</a:t>
            </a:r>
            <a:r>
              <a:rPr lang="en-US" sz="3200" dirty="0">
                <a:latin typeface="Readex Pro"/>
              </a:rPr>
              <a:t> ý</a:t>
            </a:r>
            <a:endParaRPr lang="vi-VN" sz="3200" dirty="0">
              <a:latin typeface="Readex Pro"/>
            </a:endParaRPr>
          </a:p>
          <a:p>
            <a:pPr lvl="0"/>
            <a:r>
              <a:rPr lang="en-US" sz="3200" dirty="0" err="1">
                <a:latin typeface="Readex Pro"/>
              </a:rPr>
              <a:t>Tóm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lược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nội</a:t>
            </a:r>
            <a:r>
              <a:rPr lang="en-US" sz="3200" dirty="0">
                <a:latin typeface="Readex Pro"/>
              </a:rPr>
              <a:t> dung </a:t>
            </a:r>
            <a:r>
              <a:rPr lang="en-US" sz="3200" dirty="0" err="1">
                <a:latin typeface="Readex Pro"/>
              </a:rPr>
              <a:t>báo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cáo</a:t>
            </a:r>
            <a:endParaRPr lang="en-US" sz="3200" dirty="0">
              <a:latin typeface="Readex Pro"/>
            </a:endParaRPr>
          </a:p>
          <a:p>
            <a:pPr marL="457200" lvl="1" indent="0">
              <a:buNone/>
            </a:pPr>
            <a:r>
              <a:rPr lang="vi-VN" dirty="0">
                <a:latin typeface="Readex Pro"/>
              </a:rPr>
              <a:t>- </a:t>
            </a:r>
            <a:r>
              <a:rPr lang="en-US" sz="2800" dirty="0" err="1">
                <a:latin typeface="Readex Pro"/>
                <a:hlinkClick r:id="rId2" action="ppaction://hlinksldjump"/>
              </a:rPr>
              <a:t>Sử</a:t>
            </a:r>
            <a:r>
              <a:rPr lang="en-US" sz="2800" dirty="0">
                <a:latin typeface="Readex Pro"/>
                <a:hlinkClick r:id="rId2" action="ppaction://hlinksldjump"/>
              </a:rPr>
              <a:t> </a:t>
            </a:r>
            <a:r>
              <a:rPr lang="en-US" sz="2800" dirty="0" err="1">
                <a:latin typeface="Readex Pro"/>
                <a:hlinkClick r:id="rId2" action="ppaction://hlinksldjump"/>
              </a:rPr>
              <a:t>dụng</a:t>
            </a:r>
            <a:r>
              <a:rPr lang="en-US" sz="2800" dirty="0">
                <a:latin typeface="Readex Pro"/>
                <a:hlinkClick r:id="rId2" action="ppaction://hlinksldjump"/>
              </a:rPr>
              <a:t> </a:t>
            </a:r>
            <a:r>
              <a:rPr lang="en-US" sz="2800" dirty="0" err="1">
                <a:latin typeface="Readex Pro"/>
                <a:hlinkClick r:id="rId2" action="ppaction://hlinksldjump"/>
              </a:rPr>
              <a:t>một</a:t>
            </a:r>
            <a:r>
              <a:rPr lang="en-US" sz="2800" dirty="0">
                <a:latin typeface="Readex Pro"/>
                <a:hlinkClick r:id="rId2" action="ppaction://hlinksldjump"/>
              </a:rPr>
              <a:t> </a:t>
            </a:r>
            <a:r>
              <a:rPr lang="en-US" sz="2800" dirty="0" err="1">
                <a:latin typeface="Readex Pro"/>
                <a:hlinkClick r:id="rId2" action="ppaction://hlinksldjump"/>
              </a:rPr>
              <a:t>đoạn</a:t>
            </a:r>
            <a:r>
              <a:rPr lang="en-US" sz="2800" dirty="0">
                <a:latin typeface="Readex Pro"/>
                <a:hlinkClick r:id="rId2" action="ppaction://hlinksldjump"/>
              </a:rPr>
              <a:t> </a:t>
            </a:r>
            <a:r>
              <a:rPr lang="en-US" sz="2800" dirty="0" err="1">
                <a:latin typeface="Readex Pro"/>
                <a:hlinkClick r:id="rId2" action="ppaction://hlinksldjump"/>
              </a:rPr>
              <a:t>trích</a:t>
            </a:r>
            <a:r>
              <a:rPr lang="en-US" sz="2800" dirty="0">
                <a:latin typeface="Readex Pro"/>
                <a:hlinkClick r:id="rId2" action="ppaction://hlinksldjump"/>
              </a:rPr>
              <a:t> </a:t>
            </a:r>
            <a:r>
              <a:rPr lang="en-US" sz="2800" dirty="0" err="1">
                <a:latin typeface="Readex Pro"/>
                <a:hlinkClick r:id="rId2" action="ppaction://hlinksldjump"/>
              </a:rPr>
              <a:t>dẫn</a:t>
            </a:r>
            <a:r>
              <a:rPr lang="en-US" sz="2800" dirty="0">
                <a:latin typeface="Readex Pro"/>
              </a:rPr>
              <a:t> </a:t>
            </a:r>
            <a:endParaRPr lang="vi-VN" sz="2800" dirty="0">
              <a:latin typeface="Readex Pro"/>
            </a:endParaRPr>
          </a:p>
          <a:p>
            <a:pPr marL="457200" lvl="1" indent="0">
              <a:buNone/>
            </a:pPr>
            <a:r>
              <a:rPr lang="vi-VN" sz="2800" dirty="0">
                <a:latin typeface="Readex Pro"/>
              </a:rPr>
              <a:t>- </a:t>
            </a:r>
            <a:r>
              <a:rPr lang="en-US" sz="2800" dirty="0" err="1">
                <a:latin typeface="Readex Pro"/>
              </a:rPr>
              <a:t>Một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câu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hỏi</a:t>
            </a:r>
            <a:endParaRPr lang="vi-VN" sz="2800" dirty="0">
              <a:latin typeface="Readex Pro"/>
            </a:endParaRPr>
          </a:p>
          <a:p>
            <a:pPr marL="457200" lvl="1" indent="0">
              <a:buNone/>
            </a:pPr>
            <a:r>
              <a:rPr lang="vi-VN" sz="2800" dirty="0">
                <a:latin typeface="Readex Pro"/>
              </a:rPr>
              <a:t>-</a:t>
            </a:r>
            <a:r>
              <a:rPr lang="en-US" sz="2800" dirty="0" err="1">
                <a:latin typeface="Readex Pro"/>
              </a:rPr>
              <a:t>Một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lời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khuyên</a:t>
            </a:r>
            <a:r>
              <a:rPr lang="en-US" sz="2800" dirty="0">
                <a:latin typeface="Readex Pro"/>
              </a:rPr>
              <a:t> </a:t>
            </a:r>
            <a:endParaRPr lang="vi-VN" sz="2800" dirty="0">
              <a:latin typeface="Readex Pro"/>
            </a:endParaRPr>
          </a:p>
          <a:p>
            <a:pPr marL="457200" lvl="1" indent="0">
              <a:buNone/>
            </a:pPr>
            <a:r>
              <a:rPr lang="vi-VN" sz="2800" dirty="0">
                <a:latin typeface="Readex Pro"/>
              </a:rPr>
              <a:t>-</a:t>
            </a:r>
            <a:r>
              <a:rPr lang="en-US" sz="2800" dirty="0" err="1">
                <a:latin typeface="Readex Pro"/>
              </a:rPr>
              <a:t>Thậm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chí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là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một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hình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ảnh</a:t>
            </a:r>
            <a:r>
              <a:rPr lang="en-US" sz="2800" dirty="0">
                <a:latin typeface="Readex Pro"/>
              </a:rPr>
              <a:t> </a:t>
            </a:r>
            <a:endParaRPr lang="vi-VN" sz="2800" dirty="0">
              <a:latin typeface="Readex Pro"/>
            </a:endParaRPr>
          </a:p>
          <a:p>
            <a:pPr marL="457200" lvl="1" indent="0">
              <a:buNone/>
            </a:pPr>
            <a:r>
              <a:rPr lang="vi-VN" sz="2800" dirty="0">
                <a:latin typeface="Readex Pro"/>
              </a:rPr>
              <a:t>-</a:t>
            </a:r>
            <a:r>
              <a:rPr lang="en-US" sz="2800" dirty="0" err="1">
                <a:latin typeface="Readex Pro"/>
              </a:rPr>
              <a:t>Tóm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lược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nội</a:t>
            </a:r>
            <a:r>
              <a:rPr lang="en-US" sz="2800" dirty="0">
                <a:latin typeface="Readex Pro"/>
              </a:rPr>
              <a:t> dung </a:t>
            </a:r>
            <a:r>
              <a:rPr lang="en-US" sz="2800" dirty="0" err="1">
                <a:latin typeface="Readex Pro"/>
              </a:rPr>
              <a:t>báo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cáo</a:t>
            </a:r>
            <a:endParaRPr lang="en-US" sz="2800" dirty="0">
              <a:latin typeface="Readex Pro"/>
            </a:endParaRPr>
          </a:p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C88E4A-1D05-0610-B883-1C8166B10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>
              <a:defRPr b="1">
                <a:solidFill>
                  <a:srgbClr val="00B0F0"/>
                </a:solidFill>
              </a:defRPr>
            </a:lvl1pPr>
          </a:lstStyle>
          <a:p>
            <a:r>
              <a:rPr lang="en-US" sz="3600" dirty="0" err="1">
                <a:latin typeface="K2D"/>
              </a:rPr>
              <a:t>Phần</a:t>
            </a:r>
            <a:r>
              <a:rPr lang="en-US" sz="3600" dirty="0">
                <a:latin typeface="K2D"/>
              </a:rPr>
              <a:t> </a:t>
            </a:r>
            <a:r>
              <a:rPr lang="en-US" sz="3600" dirty="0" err="1">
                <a:latin typeface="K2D"/>
              </a:rPr>
              <a:t>mở</a:t>
            </a:r>
            <a:r>
              <a:rPr lang="en-US" sz="3600" dirty="0">
                <a:latin typeface="K2D"/>
              </a:rPr>
              <a:t> </a:t>
            </a:r>
            <a:r>
              <a:rPr lang="en-US" sz="3600" dirty="0" err="1">
                <a:latin typeface="K2D"/>
              </a:rPr>
              <a:t>đầu</a:t>
            </a:r>
            <a:endParaRPr lang="en-US" sz="3600" dirty="0">
              <a:latin typeface="K2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D0ADC5-CDB2-0B9A-1CA2-E53FABADA4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04" y="761658"/>
            <a:ext cx="532496" cy="532496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257E43-092C-5EDB-302B-5B5338251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7584" y="6406039"/>
            <a:ext cx="328590" cy="256626"/>
          </a:xfrm>
          <a:solidFill>
            <a:srgbClr val="00B0F0"/>
          </a:solidFill>
        </p:spPr>
        <p:txBody>
          <a:bodyPr/>
          <a:lstStyle>
            <a:lvl1pPr algn="ctr">
              <a:defRPr/>
            </a:lvl1pPr>
          </a:lstStyle>
          <a:p>
            <a:pPr algn="ctr"/>
            <a:fld id="{9ED14E6A-7744-4277-B63E-90309E0D9F07}" type="slidenum">
              <a:rPr lang="en-US" smtClean="0"/>
              <a:pPr algn="ctr"/>
              <a:t>3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07A0FE-4296-BD25-654E-5BD7FFBE52D4}"/>
              </a:ext>
            </a:extLst>
          </p:cNvPr>
          <p:cNvSpPr txBox="1"/>
          <p:nvPr/>
        </p:nvSpPr>
        <p:spPr>
          <a:xfrm>
            <a:off x="453657" y="6342267"/>
            <a:ext cx="756745" cy="369332"/>
          </a:xfrm>
          <a:prstGeom prst="rect">
            <a:avLst/>
          </a:prstGeom>
          <a:solidFill>
            <a:srgbClr val="00B0F0"/>
          </a:solidFill>
        </p:spPr>
        <p:txBody>
          <a:bodyPr wrap="square" numCol="1" rtlCol="0" anchor="ctr">
            <a:spAutoFit/>
          </a:bodyPr>
          <a:lstStyle/>
          <a:p>
            <a:pPr algn="ctr"/>
            <a:r>
              <a:rPr lang="vi-VN" b="1" dirty="0">
                <a:solidFill>
                  <a:schemeClr val="bg1"/>
                </a:solidFill>
                <a:latin typeface="K2D"/>
              </a:rPr>
              <a:t>CTU</a:t>
            </a:r>
            <a:endParaRPr lang="en-US" b="1" dirty="0">
              <a:solidFill>
                <a:schemeClr val="bg1"/>
              </a:solidFill>
              <a:latin typeface="K2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879037-AED9-9011-1EFD-4FCB4DFE07FA}"/>
              </a:ext>
            </a:extLst>
          </p:cNvPr>
          <p:cNvSpPr txBox="1"/>
          <p:nvPr/>
        </p:nvSpPr>
        <p:spPr>
          <a:xfrm>
            <a:off x="1147353" y="6311490"/>
            <a:ext cx="17342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0070C0"/>
                </a:solidFill>
                <a:latin typeface="K2D"/>
              </a:rPr>
              <a:t>ĐẠI HỌC CẦN THƠ</a:t>
            </a:r>
          </a:p>
          <a:p>
            <a:r>
              <a:rPr lang="vi-VN" sz="800" dirty="0">
                <a:solidFill>
                  <a:srgbClr val="00B0F0"/>
                </a:solidFill>
                <a:latin typeface="Readex Pro"/>
              </a:rPr>
              <a:t>Cộng đồng – Toàn diện – Ưu việt</a:t>
            </a:r>
            <a:endParaRPr lang="en-US" sz="800" dirty="0">
              <a:solidFill>
                <a:srgbClr val="00B0F0"/>
              </a:solidFill>
              <a:latin typeface="Readex Pr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9D0C13-F3FD-E708-03E2-936889AB1167}"/>
              </a:ext>
            </a:extLst>
          </p:cNvPr>
          <p:cNvSpPr txBox="1"/>
          <p:nvPr/>
        </p:nvSpPr>
        <p:spPr>
          <a:xfrm>
            <a:off x="10056183" y="6357526"/>
            <a:ext cx="1586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D17870B-8F47-C62D-C35A-88CA0249A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554" y="6297207"/>
            <a:ext cx="9051225" cy="19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9922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1F337-7C15-03C4-16D5-3BB0A5D8F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200" dirty="0" err="1">
                <a:latin typeface="Readex Pro"/>
              </a:rPr>
              <a:t>Phần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chính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với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các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nội</a:t>
            </a:r>
            <a:r>
              <a:rPr lang="en-US" sz="3200" dirty="0">
                <a:latin typeface="Readex Pro"/>
              </a:rPr>
              <a:t> dung</a:t>
            </a:r>
          </a:p>
          <a:p>
            <a:pPr marL="457200" lvl="1" indent="0">
              <a:buNone/>
            </a:pPr>
            <a:r>
              <a:rPr lang="vi-VN" sz="2800" dirty="0">
                <a:latin typeface="Readex Pro"/>
              </a:rPr>
              <a:t>- </a:t>
            </a:r>
            <a:r>
              <a:rPr lang="en-US" sz="2800" dirty="0" err="1">
                <a:latin typeface="Readex Pro"/>
              </a:rPr>
              <a:t>Vấn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đề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cần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giải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quyết</a:t>
            </a:r>
            <a:r>
              <a:rPr lang="en-US" sz="2800" dirty="0">
                <a:latin typeface="Readex Pro"/>
              </a:rPr>
              <a:t> </a:t>
            </a:r>
            <a:endParaRPr lang="vi-VN" sz="2800" dirty="0">
              <a:latin typeface="Readex Pro"/>
            </a:endParaRPr>
          </a:p>
          <a:p>
            <a:pPr marL="457200" lvl="1" indent="0">
              <a:buNone/>
            </a:pPr>
            <a:r>
              <a:rPr lang="vi-VN" sz="2800" dirty="0">
                <a:latin typeface="Readex Pro"/>
              </a:rPr>
              <a:t>- </a:t>
            </a:r>
            <a:r>
              <a:rPr lang="en-US" sz="2800" dirty="0">
                <a:latin typeface="Readex Pro"/>
              </a:rPr>
              <a:t>Ý </a:t>
            </a:r>
            <a:r>
              <a:rPr lang="en-US" sz="2800" dirty="0" err="1">
                <a:latin typeface="Readex Pro"/>
              </a:rPr>
              <a:t>tưởng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và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giải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pháp</a:t>
            </a:r>
            <a:r>
              <a:rPr lang="en-US" sz="2800" dirty="0">
                <a:latin typeface="Readex Pro"/>
              </a:rPr>
              <a:t> </a:t>
            </a:r>
            <a:endParaRPr lang="vi-VN" sz="2800" dirty="0">
              <a:latin typeface="Readex Pro"/>
            </a:endParaRPr>
          </a:p>
          <a:p>
            <a:pPr marL="457200" lvl="1" indent="0">
              <a:buNone/>
            </a:pPr>
            <a:r>
              <a:rPr lang="en-US" sz="2800" dirty="0">
                <a:latin typeface="Readex Pro"/>
              </a:rPr>
              <a:t>- </a:t>
            </a:r>
            <a:r>
              <a:rPr lang="en-US" sz="2800" dirty="0">
                <a:latin typeface="Readex Pro"/>
                <a:hlinkClick r:id="rId2" action="ppaction://hlinksldjump"/>
              </a:rPr>
              <a:t>Cung </a:t>
            </a:r>
            <a:r>
              <a:rPr lang="en-US" sz="2800" dirty="0" err="1">
                <a:latin typeface="Readex Pro"/>
                <a:hlinkClick r:id="rId2" action="ppaction://hlinksldjump"/>
              </a:rPr>
              <a:t>cấp</a:t>
            </a:r>
            <a:r>
              <a:rPr lang="en-US" sz="2800" dirty="0">
                <a:latin typeface="Readex Pro"/>
                <a:hlinkClick r:id="rId2" action="ppaction://hlinksldjump"/>
              </a:rPr>
              <a:t> </a:t>
            </a:r>
            <a:r>
              <a:rPr lang="en-US" sz="2800" dirty="0" err="1">
                <a:latin typeface="Readex Pro"/>
                <a:hlinkClick r:id="rId2" action="ppaction://hlinksldjump"/>
              </a:rPr>
              <a:t>ví</a:t>
            </a:r>
            <a:r>
              <a:rPr lang="en-US" sz="2800" dirty="0">
                <a:latin typeface="Readex Pro"/>
                <a:hlinkClick r:id="rId2" action="ppaction://hlinksldjump"/>
              </a:rPr>
              <a:t> </a:t>
            </a:r>
            <a:r>
              <a:rPr lang="en-US" sz="2800" dirty="0" err="1">
                <a:latin typeface="Readex Pro"/>
                <a:hlinkClick r:id="rId2" action="ppaction://hlinksldjump"/>
              </a:rPr>
              <a:t>dụ</a:t>
            </a:r>
            <a:r>
              <a:rPr lang="en-US" sz="2800" dirty="0">
                <a:latin typeface="Readex Pro"/>
                <a:hlinkClick r:id="rId2" action="ppaction://hlinksldjump"/>
              </a:rPr>
              <a:t> </a:t>
            </a:r>
            <a:r>
              <a:rPr lang="en-US" sz="2800" dirty="0" err="1">
                <a:latin typeface="Readex Pro"/>
                <a:hlinkClick r:id="rId2" action="ppaction://hlinksldjump"/>
              </a:rPr>
              <a:t>để</a:t>
            </a:r>
            <a:r>
              <a:rPr lang="en-US" sz="2800" dirty="0">
                <a:latin typeface="Readex Pro"/>
                <a:hlinkClick r:id="rId2" action="ppaction://hlinksldjump"/>
              </a:rPr>
              <a:t> </a:t>
            </a:r>
            <a:r>
              <a:rPr lang="en-US" sz="2800" dirty="0" err="1">
                <a:latin typeface="Readex Pro"/>
                <a:hlinkClick r:id="rId2" action="ppaction://hlinksldjump"/>
              </a:rPr>
              <a:t>chứng</a:t>
            </a:r>
            <a:r>
              <a:rPr lang="en-US" sz="2800" dirty="0">
                <a:latin typeface="Readex Pro"/>
                <a:hlinkClick r:id="rId2" action="ppaction://hlinksldjump"/>
              </a:rPr>
              <a:t> </a:t>
            </a:r>
            <a:r>
              <a:rPr lang="en-US" sz="2800" dirty="0" err="1">
                <a:latin typeface="Readex Pro"/>
                <a:hlinkClick r:id="rId2" action="ppaction://hlinksldjump"/>
              </a:rPr>
              <a:t>minh</a:t>
            </a:r>
            <a:r>
              <a:rPr lang="en-US" sz="2800" dirty="0">
                <a:latin typeface="Readex Pro"/>
                <a:hlinkClick r:id="rId2" action="ppaction://hlinksldjump"/>
              </a:rPr>
              <a:t> </a:t>
            </a:r>
            <a:endParaRPr lang="en-US" sz="2800" dirty="0">
              <a:latin typeface="Readex Pro"/>
            </a:endParaRPr>
          </a:p>
          <a:p>
            <a:pPr marL="457200" lvl="1" indent="0">
              <a:buNone/>
            </a:pPr>
            <a:r>
              <a:rPr lang="en-US" sz="2800" dirty="0">
                <a:latin typeface="Readex Pro"/>
              </a:rPr>
              <a:t>- Lợi </a:t>
            </a:r>
            <a:r>
              <a:rPr lang="en-US" sz="2800" dirty="0" err="1">
                <a:latin typeface="Readex Pro"/>
              </a:rPr>
              <a:t>ích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khi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áp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dụng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giải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pháp</a:t>
            </a:r>
            <a:endParaRPr lang="vi-VN" sz="2800" dirty="0">
              <a:latin typeface="Readex Pro"/>
            </a:endParaRPr>
          </a:p>
          <a:p>
            <a:pPr marL="457200" lvl="1" indent="0">
              <a:buNone/>
            </a:pPr>
            <a:r>
              <a:rPr lang="vi-VN" sz="2800" dirty="0">
                <a:latin typeface="Readex Pro"/>
              </a:rPr>
              <a:t>- </a:t>
            </a:r>
            <a:r>
              <a:rPr lang="en-US" sz="2800" dirty="0" err="1">
                <a:latin typeface="Readex Pro"/>
              </a:rPr>
              <a:t>Chương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trình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hành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động</a:t>
            </a:r>
            <a:r>
              <a:rPr lang="en-US" sz="2800" dirty="0">
                <a:latin typeface="Readex Pro"/>
              </a:rPr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4176FEA-50A3-BCBB-A487-4A1A46EB1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 b="1">
                <a:solidFill>
                  <a:srgbClr val="00B0F0"/>
                </a:solidFill>
              </a:defRPr>
            </a:lvl1pPr>
          </a:lstStyle>
          <a:p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chính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0012D2-EFA8-43E6-9945-AE1EE9719F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57" y="776043"/>
            <a:ext cx="532496" cy="532496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C2E2E25-918E-994E-5AF9-D690C29A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55325" y="6420732"/>
            <a:ext cx="328590" cy="256626"/>
          </a:xfrm>
          <a:solidFill>
            <a:srgbClr val="00B0F0"/>
          </a:solidFill>
        </p:spPr>
        <p:txBody>
          <a:bodyPr/>
          <a:lstStyle>
            <a:lvl1pPr algn="ctr">
              <a:defRPr/>
            </a:lvl1pPr>
          </a:lstStyle>
          <a:p>
            <a:pPr algn="ctr"/>
            <a:fld id="{9ED14E6A-7744-4277-B63E-90309E0D9F07}" type="slidenum">
              <a:rPr lang="en-US" smtClean="0"/>
              <a:pPr algn="ctr"/>
              <a:t>4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A96F3A-2FE1-E6CC-96A7-5430963BE646}"/>
              </a:ext>
            </a:extLst>
          </p:cNvPr>
          <p:cNvSpPr txBox="1"/>
          <p:nvPr/>
        </p:nvSpPr>
        <p:spPr>
          <a:xfrm>
            <a:off x="381398" y="6356960"/>
            <a:ext cx="756745" cy="369332"/>
          </a:xfrm>
          <a:prstGeom prst="rect">
            <a:avLst/>
          </a:prstGeom>
          <a:solidFill>
            <a:srgbClr val="00B0F0"/>
          </a:solidFill>
        </p:spPr>
        <p:txBody>
          <a:bodyPr wrap="square" numCol="1" rtlCol="0" anchor="ctr">
            <a:spAutoFit/>
          </a:bodyPr>
          <a:lstStyle/>
          <a:p>
            <a:pPr algn="ctr"/>
            <a:r>
              <a:rPr lang="vi-VN" b="1" dirty="0">
                <a:solidFill>
                  <a:schemeClr val="bg1"/>
                </a:solidFill>
                <a:latin typeface="K2D"/>
              </a:rPr>
              <a:t>CTU</a:t>
            </a:r>
            <a:endParaRPr lang="en-US" b="1" dirty="0">
              <a:solidFill>
                <a:schemeClr val="bg1"/>
              </a:solidFill>
              <a:latin typeface="K2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757B37-6234-350F-E593-A693B41997FC}"/>
              </a:ext>
            </a:extLst>
          </p:cNvPr>
          <p:cNvSpPr txBox="1"/>
          <p:nvPr/>
        </p:nvSpPr>
        <p:spPr>
          <a:xfrm>
            <a:off x="1075094" y="6326183"/>
            <a:ext cx="17342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0070C0"/>
                </a:solidFill>
                <a:latin typeface="K2D"/>
              </a:rPr>
              <a:t>ĐẠI HỌC CẦN THƠ</a:t>
            </a:r>
          </a:p>
          <a:p>
            <a:r>
              <a:rPr lang="vi-VN" sz="800" dirty="0">
                <a:solidFill>
                  <a:srgbClr val="00B0F0"/>
                </a:solidFill>
                <a:latin typeface="Readex Pro"/>
              </a:rPr>
              <a:t>Cộng đồng – Toàn diện – Ưu việt</a:t>
            </a:r>
            <a:endParaRPr lang="en-US" sz="800" dirty="0">
              <a:solidFill>
                <a:srgbClr val="00B0F0"/>
              </a:solidFill>
              <a:latin typeface="Readex Pr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45413C-F5C3-772F-E871-D474193E7352}"/>
              </a:ext>
            </a:extLst>
          </p:cNvPr>
          <p:cNvSpPr txBox="1"/>
          <p:nvPr/>
        </p:nvSpPr>
        <p:spPr>
          <a:xfrm>
            <a:off x="9983924" y="6372219"/>
            <a:ext cx="1586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www.ctu.edu.vn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9B1FBE-68DE-2792-4F7D-4CA62FEDC5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295" y="6311900"/>
            <a:ext cx="9051225" cy="19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9213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5FD29-9F5C-6595-20DF-CD5F376F6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200" dirty="0" err="1">
                <a:latin typeface="Readex Pro"/>
              </a:rPr>
              <a:t>Tóm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tắt</a:t>
            </a:r>
            <a:endParaRPr lang="vi-VN" sz="3200" dirty="0">
              <a:latin typeface="Readex Pro"/>
            </a:endParaRPr>
          </a:p>
          <a:p>
            <a:pPr lvl="0"/>
            <a:r>
              <a:rPr lang="en-US" sz="3200" dirty="0" err="1">
                <a:latin typeface="Readex Pro"/>
              </a:rPr>
              <a:t>Kết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luận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cuối</a:t>
            </a:r>
            <a:r>
              <a:rPr lang="en-US" sz="3200" dirty="0">
                <a:latin typeface="Readex Pro"/>
              </a:rPr>
              <a:t> </a:t>
            </a:r>
            <a:r>
              <a:rPr lang="en-US" sz="3200" dirty="0" err="1">
                <a:latin typeface="Readex Pro"/>
              </a:rPr>
              <a:t>cùng</a:t>
            </a:r>
            <a:endParaRPr lang="en-US" sz="3200" dirty="0">
              <a:latin typeface="Readex Pro"/>
            </a:endParaRPr>
          </a:p>
          <a:p>
            <a:pPr marL="457200" lvl="1" indent="0">
              <a:buNone/>
            </a:pPr>
            <a:r>
              <a:rPr lang="vi-VN" sz="2800" dirty="0">
                <a:latin typeface="Readex Pro"/>
              </a:rPr>
              <a:t>- </a:t>
            </a:r>
            <a:r>
              <a:rPr lang="en-US" sz="2800" dirty="0">
                <a:latin typeface="Readex Pro"/>
              </a:rPr>
              <a:t>Liệu </a:t>
            </a:r>
            <a:r>
              <a:rPr lang="en-US" sz="2800" dirty="0" err="1">
                <a:latin typeface="Readex Pro"/>
              </a:rPr>
              <a:t>còn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điều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gì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bạn</a:t>
            </a:r>
            <a:r>
              <a:rPr lang="en-US" sz="2800" dirty="0">
                <a:latin typeface="Readex Pro"/>
              </a:rPr>
              <a:t>...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809ACDF-89B0-ABD8-0C84-F0850EDF6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>
            <a:lvl1pPr>
              <a:defRPr b="1">
                <a:solidFill>
                  <a:srgbClr val="00B0F0"/>
                </a:solidFill>
              </a:defRPr>
            </a:lvl1pPr>
          </a:lstStyle>
          <a:p>
            <a:r>
              <a:rPr lang="en-US" sz="3600" dirty="0" err="1">
                <a:latin typeface="K2D"/>
              </a:rPr>
              <a:t>Phần</a:t>
            </a:r>
            <a:r>
              <a:rPr lang="en-US" sz="3600" dirty="0">
                <a:latin typeface="K2D"/>
              </a:rPr>
              <a:t> </a:t>
            </a:r>
            <a:r>
              <a:rPr lang="en-US" sz="3600" dirty="0" err="1">
                <a:latin typeface="K2D"/>
              </a:rPr>
              <a:t>kết</a:t>
            </a:r>
            <a:endParaRPr lang="en-US" sz="3600" dirty="0">
              <a:latin typeface="K2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8A0FB8-1B43-1682-DC58-C6E6D5E1A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706" y="775658"/>
            <a:ext cx="504495" cy="504495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CF47FC1-1854-CB30-0C24-1A8F134B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48756" y="6406039"/>
            <a:ext cx="328590" cy="256626"/>
          </a:xfrm>
          <a:solidFill>
            <a:srgbClr val="00B0F0"/>
          </a:solidFill>
        </p:spPr>
        <p:txBody>
          <a:bodyPr/>
          <a:lstStyle>
            <a:lvl1pPr algn="ctr">
              <a:defRPr/>
            </a:lvl1pPr>
          </a:lstStyle>
          <a:p>
            <a:pPr algn="ctr"/>
            <a:fld id="{9ED14E6A-7744-4277-B63E-90309E0D9F07}" type="slidenum">
              <a:rPr lang="en-US" smtClean="0"/>
              <a:pPr algn="ctr"/>
              <a:t>5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9BCDF8-6297-9DD6-3340-80F466EA54BA}"/>
              </a:ext>
            </a:extLst>
          </p:cNvPr>
          <p:cNvSpPr txBox="1"/>
          <p:nvPr/>
        </p:nvSpPr>
        <p:spPr>
          <a:xfrm>
            <a:off x="374829" y="6342267"/>
            <a:ext cx="756745" cy="369332"/>
          </a:xfrm>
          <a:prstGeom prst="rect">
            <a:avLst/>
          </a:prstGeom>
          <a:solidFill>
            <a:srgbClr val="00B0F0"/>
          </a:solidFill>
        </p:spPr>
        <p:txBody>
          <a:bodyPr wrap="square" numCol="1" rtlCol="0" anchor="ctr">
            <a:spAutoFit/>
          </a:bodyPr>
          <a:lstStyle/>
          <a:p>
            <a:pPr algn="ctr"/>
            <a:r>
              <a:rPr lang="vi-VN" b="1" dirty="0">
                <a:solidFill>
                  <a:schemeClr val="bg1"/>
                </a:solidFill>
                <a:latin typeface="K2D"/>
              </a:rPr>
              <a:t>CTU</a:t>
            </a:r>
            <a:endParaRPr lang="en-US" b="1" dirty="0">
              <a:solidFill>
                <a:schemeClr val="bg1"/>
              </a:solidFill>
              <a:latin typeface="K2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1DC713-C9CC-3C2A-12F7-9D0606D66986}"/>
              </a:ext>
            </a:extLst>
          </p:cNvPr>
          <p:cNvSpPr txBox="1"/>
          <p:nvPr/>
        </p:nvSpPr>
        <p:spPr>
          <a:xfrm>
            <a:off x="1068525" y="6311490"/>
            <a:ext cx="17342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0070C0"/>
                </a:solidFill>
                <a:latin typeface="K2D"/>
              </a:rPr>
              <a:t>ĐẠI HỌC CẦN THƠ</a:t>
            </a:r>
          </a:p>
          <a:p>
            <a:r>
              <a:rPr lang="vi-VN" sz="800" dirty="0">
                <a:solidFill>
                  <a:srgbClr val="00B0F0"/>
                </a:solidFill>
                <a:latin typeface="Readex Pro"/>
              </a:rPr>
              <a:t>Cộng đồng – Toàn diện – Ưu việt</a:t>
            </a:r>
            <a:endParaRPr lang="en-US" sz="800" dirty="0">
              <a:solidFill>
                <a:srgbClr val="00B0F0"/>
              </a:solidFill>
              <a:latin typeface="Readex Pro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D26F33-5C55-80DE-B25F-C2FCFCBC5632}"/>
              </a:ext>
            </a:extLst>
          </p:cNvPr>
          <p:cNvSpPr txBox="1"/>
          <p:nvPr/>
        </p:nvSpPr>
        <p:spPr>
          <a:xfrm>
            <a:off x="9977355" y="6357526"/>
            <a:ext cx="1586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www.ctu.edu.vn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6AEED37-EEDB-AE0E-27DF-6AEB0D816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726" y="6297207"/>
            <a:ext cx="9051225" cy="19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7970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454A47-F2F5-5482-6308-C7E2D862A9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4377"/>
            <a:ext cx="12191999" cy="68623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BB6AE4-0BF8-8251-231B-B1BD508A8B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776" y="3265021"/>
            <a:ext cx="466776" cy="46677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72ED9EA-D538-E846-0F4C-F32849F7D0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8532" y="1980039"/>
            <a:ext cx="9370425" cy="1817478"/>
          </a:xfrm>
        </p:spPr>
        <p:txBody>
          <a:bodyPr anchor="b"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vi-VN" dirty="0"/>
              <a:t>Cảm ơn sự chú ý của quý vị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A7D3F71-2822-04E9-6E51-FCA57A401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03514" y="6337923"/>
            <a:ext cx="302624" cy="365124"/>
          </a:xfrm>
          <a:solidFill>
            <a:srgbClr val="0070C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vi-VN" dirty="0"/>
              <a:t>#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B82E3E-3793-DA6D-8B78-7BB534685414}"/>
              </a:ext>
            </a:extLst>
          </p:cNvPr>
          <p:cNvSpPr txBox="1"/>
          <p:nvPr/>
        </p:nvSpPr>
        <p:spPr>
          <a:xfrm>
            <a:off x="1109776" y="6242497"/>
            <a:ext cx="17342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chemeClr val="bg1"/>
                </a:solidFill>
                <a:latin typeface="K2D"/>
              </a:rPr>
              <a:t>ĐẠI HỌC CẦN THƠ</a:t>
            </a:r>
          </a:p>
          <a:p>
            <a:r>
              <a:rPr lang="vi-VN" sz="800" dirty="0">
                <a:solidFill>
                  <a:schemeClr val="bg1"/>
                </a:solidFill>
                <a:latin typeface="Readex Pro"/>
              </a:rPr>
              <a:t>Cộng đồng – Toàn diện – Ưu việt</a:t>
            </a:r>
            <a:endParaRPr lang="en-US" sz="800" dirty="0">
              <a:solidFill>
                <a:schemeClr val="bg1"/>
              </a:solidFill>
              <a:latin typeface="Readex Pr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4B9717-42CC-66AF-475E-1EC75A22EC9C}"/>
              </a:ext>
            </a:extLst>
          </p:cNvPr>
          <p:cNvSpPr txBox="1"/>
          <p:nvPr/>
        </p:nvSpPr>
        <p:spPr>
          <a:xfrm>
            <a:off x="401570" y="6298088"/>
            <a:ext cx="756745" cy="369332"/>
          </a:xfrm>
          <a:prstGeom prst="rect">
            <a:avLst/>
          </a:prstGeom>
          <a:solidFill>
            <a:srgbClr val="0070C0"/>
          </a:solidFill>
        </p:spPr>
        <p:txBody>
          <a:bodyPr wrap="square" numCol="1" rtlCol="0" anchor="ctr">
            <a:spAutoFit/>
          </a:bodyPr>
          <a:lstStyle/>
          <a:p>
            <a:pPr algn="ctr"/>
            <a:r>
              <a:rPr lang="vi-VN" b="1" dirty="0">
                <a:solidFill>
                  <a:schemeClr val="bg1"/>
                </a:solidFill>
                <a:latin typeface="K2D"/>
              </a:rPr>
              <a:t>CTU</a:t>
            </a:r>
            <a:endParaRPr lang="en-US" b="1" dirty="0">
              <a:solidFill>
                <a:schemeClr val="bg1"/>
              </a:solidFill>
              <a:latin typeface="K2D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B1F900-8EB5-52E5-9A21-A77C94C0E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589" y="6256000"/>
            <a:ext cx="9215717" cy="17866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31D9B1B-6402-280A-63DF-D304CDC09857}"/>
              </a:ext>
            </a:extLst>
          </p:cNvPr>
          <p:cNvSpPr txBox="1"/>
          <p:nvPr/>
        </p:nvSpPr>
        <p:spPr>
          <a:xfrm>
            <a:off x="10096988" y="6287627"/>
            <a:ext cx="1586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www.ctu.edu.vn</a:t>
            </a:r>
          </a:p>
        </p:txBody>
      </p:sp>
    </p:spTree>
    <p:extLst>
      <p:ext uri="{BB962C8B-B14F-4D97-AF65-F5344CB8AC3E}">
        <p14:creationId xmlns:p14="http://schemas.microsoft.com/office/powerpoint/2010/main" val="38110895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BAAA4-207B-698D-1E6D-DAF4B11F3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>
                <a:latin typeface="Readex Pro"/>
              </a:rPr>
              <a:t>Ví</a:t>
            </a:r>
            <a:r>
              <a:rPr lang="en-US" dirty="0">
                <a:latin typeface="Readex Pro"/>
              </a:rPr>
              <a:t> </a:t>
            </a:r>
            <a:r>
              <a:rPr lang="en-US" dirty="0" err="1">
                <a:latin typeface="Readex Pro"/>
              </a:rPr>
              <a:t>dụ</a:t>
            </a:r>
            <a:r>
              <a:rPr lang="en-US" dirty="0">
                <a:latin typeface="Readex Pro"/>
              </a:rPr>
              <a:t>: Ta </a:t>
            </a:r>
            <a:r>
              <a:rPr lang="en-US" dirty="0" err="1">
                <a:latin typeface="Readex Pro"/>
              </a:rPr>
              <a:t>có</a:t>
            </a:r>
            <a:r>
              <a:rPr lang="en-US" dirty="0">
                <a:latin typeface="Readex Pro"/>
              </a:rPr>
              <a:t> </a:t>
            </a:r>
            <a:r>
              <a:rPr lang="en-US" dirty="0" err="1">
                <a:latin typeface="Readex Pro"/>
              </a:rPr>
              <a:t>thể</a:t>
            </a:r>
            <a:r>
              <a:rPr lang="en-US" dirty="0">
                <a:latin typeface="Readex Pro"/>
              </a:rPr>
              <a:t> </a:t>
            </a:r>
            <a:r>
              <a:rPr lang="en-US" dirty="0" err="1">
                <a:latin typeface="Readex Pro"/>
              </a:rPr>
              <a:t>phát</a:t>
            </a:r>
            <a:r>
              <a:rPr lang="en-US" dirty="0">
                <a:latin typeface="Readex Pro"/>
              </a:rPr>
              <a:t> </a:t>
            </a:r>
            <a:r>
              <a:rPr lang="en-US" dirty="0" err="1">
                <a:latin typeface="Readex Pro"/>
              </a:rPr>
              <a:t>biểu</a:t>
            </a:r>
            <a:r>
              <a:rPr lang="en-US" dirty="0">
                <a:latin typeface="Readex Pro"/>
              </a:rPr>
              <a:t> </a:t>
            </a:r>
            <a:r>
              <a:rPr lang="en-US" dirty="0" err="1">
                <a:latin typeface="Readex Pro"/>
              </a:rPr>
              <a:t>trích</a:t>
            </a:r>
            <a:r>
              <a:rPr lang="en-US" dirty="0">
                <a:latin typeface="Readex Pro"/>
              </a:rPr>
              <a:t> </a:t>
            </a:r>
            <a:r>
              <a:rPr lang="en-US" dirty="0" err="1">
                <a:latin typeface="Readex Pro"/>
              </a:rPr>
              <a:t>dẫn</a:t>
            </a:r>
            <a:r>
              <a:rPr lang="en-US" dirty="0">
                <a:latin typeface="Readex Pro"/>
              </a:rPr>
              <a:t> </a:t>
            </a:r>
            <a:r>
              <a:rPr lang="en-US" dirty="0" err="1">
                <a:latin typeface="Readex Pro"/>
              </a:rPr>
              <a:t>lợi</a:t>
            </a:r>
            <a:r>
              <a:rPr lang="en-US" dirty="0">
                <a:latin typeface="Readex Pro"/>
              </a:rPr>
              <a:t> </a:t>
            </a:r>
            <a:r>
              <a:rPr lang="en-US" dirty="0" err="1">
                <a:latin typeface="Readex Pro"/>
              </a:rPr>
              <a:t>ích</a:t>
            </a:r>
            <a:r>
              <a:rPr lang="en-US" dirty="0">
                <a:latin typeface="Readex Pro"/>
              </a:rPr>
              <a:t> </a:t>
            </a:r>
            <a:r>
              <a:rPr lang="en-US" dirty="0" err="1">
                <a:latin typeface="Readex Pro"/>
              </a:rPr>
              <a:t>khi</a:t>
            </a:r>
            <a:r>
              <a:rPr lang="en-US" dirty="0">
                <a:latin typeface="Readex Pro"/>
              </a:rPr>
              <a:t> </a:t>
            </a:r>
            <a:r>
              <a:rPr lang="en-US" dirty="0" err="1">
                <a:latin typeface="Readex Pro"/>
              </a:rPr>
              <a:t>học</a:t>
            </a:r>
            <a:r>
              <a:rPr lang="en-US" dirty="0">
                <a:latin typeface="Readex Pro"/>
              </a:rPr>
              <a:t> </a:t>
            </a:r>
            <a:r>
              <a:rPr lang="en-US" dirty="0" err="1">
                <a:latin typeface="Readex Pro"/>
              </a:rPr>
              <a:t>ngành</a:t>
            </a:r>
            <a:r>
              <a:rPr lang="en-US" dirty="0">
                <a:latin typeface="Readex Pro"/>
              </a:rPr>
              <a:t> </a:t>
            </a:r>
            <a:r>
              <a:rPr lang="en-US" dirty="0" err="1">
                <a:latin typeface="Readex Pro"/>
              </a:rPr>
              <a:t>công</a:t>
            </a:r>
            <a:r>
              <a:rPr lang="en-US" dirty="0">
                <a:latin typeface="Readex Pro"/>
              </a:rPr>
              <a:t> </a:t>
            </a:r>
            <a:r>
              <a:rPr lang="en-US" dirty="0" err="1">
                <a:latin typeface="Readex Pro"/>
              </a:rPr>
              <a:t>nghệ</a:t>
            </a:r>
            <a:r>
              <a:rPr lang="en-US" dirty="0">
                <a:latin typeface="Readex Pro"/>
              </a:rPr>
              <a:t> </a:t>
            </a:r>
            <a:r>
              <a:rPr lang="en-US" dirty="0" err="1">
                <a:latin typeface="Readex Pro"/>
              </a:rPr>
              <a:t>thông</a:t>
            </a:r>
            <a:r>
              <a:rPr lang="en-US" dirty="0">
                <a:latin typeface="Readex Pro"/>
              </a:rPr>
              <a:t> tin</a:t>
            </a:r>
          </a:p>
          <a:p>
            <a:pPr lvl="1"/>
            <a:r>
              <a:rPr lang="en-US" sz="2800" dirty="0">
                <a:latin typeface="Readex Pro"/>
              </a:rPr>
              <a:t>“</a:t>
            </a:r>
            <a:r>
              <a:rPr lang="en-US" sz="2800" dirty="0" err="1">
                <a:latin typeface="Readex Pro"/>
              </a:rPr>
              <a:t>Hàng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năm</a:t>
            </a:r>
            <a:r>
              <a:rPr lang="en-US" sz="2800" dirty="0">
                <a:latin typeface="Readex Pro"/>
              </a:rPr>
              <a:t>, </a:t>
            </a:r>
            <a:r>
              <a:rPr lang="en-US" sz="2800" dirty="0" err="1">
                <a:latin typeface="Readex Pro"/>
              </a:rPr>
              <a:t>công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nghệ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mới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luôn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được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phát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triển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và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thể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hiện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tầm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quan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trọng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của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nó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đối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với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cuộc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sống</a:t>
            </a:r>
            <a:r>
              <a:rPr lang="en-US" sz="2800" dirty="0">
                <a:latin typeface="Readex Pro"/>
              </a:rPr>
              <a:t>. Các </a:t>
            </a:r>
            <a:r>
              <a:rPr lang="en-US" sz="2800" dirty="0" err="1">
                <a:latin typeface="Readex Pro"/>
              </a:rPr>
              <a:t>doanh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nghiệp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cũng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thay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đổi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theo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hướng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cập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nhật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công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nghệ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thông</a:t>
            </a:r>
            <a:r>
              <a:rPr lang="en-US" sz="2800" dirty="0">
                <a:latin typeface="Readex Pro"/>
              </a:rPr>
              <a:t> tin </a:t>
            </a:r>
            <a:r>
              <a:rPr lang="en-US" sz="2800" dirty="0" err="1">
                <a:latin typeface="Readex Pro"/>
              </a:rPr>
              <a:t>và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yêu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cầu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sự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thay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đổi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về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nhân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sự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giỏi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công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nghệ</a:t>
            </a:r>
            <a:r>
              <a:rPr lang="en-US" sz="2800" dirty="0">
                <a:latin typeface="Readex Pro"/>
              </a:rPr>
              <a:t>. </a:t>
            </a:r>
            <a:r>
              <a:rPr lang="en-US" sz="2800" dirty="0" err="1">
                <a:latin typeface="Readex Pro"/>
              </a:rPr>
              <a:t>Ngành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học</a:t>
            </a:r>
            <a:r>
              <a:rPr lang="en-US" sz="2800" dirty="0">
                <a:latin typeface="Readex Pro"/>
              </a:rPr>
              <a:t> CNTT </a:t>
            </a:r>
            <a:r>
              <a:rPr lang="en-US" sz="2800" dirty="0" err="1">
                <a:latin typeface="Readex Pro"/>
              </a:rPr>
              <a:t>được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coi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là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lĩnh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vực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ngày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một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phát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triển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và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trở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nên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hữu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ích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cho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các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bạn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muốn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xây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dựng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sự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nghiệp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với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ngành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này</a:t>
            </a:r>
            <a:r>
              <a:rPr lang="en-US" sz="2800" dirty="0">
                <a:latin typeface="Readex Pro"/>
              </a:rPr>
              <a:t>. </a:t>
            </a:r>
            <a:r>
              <a:rPr lang="en-US" sz="2800" dirty="0" err="1">
                <a:latin typeface="Readex Pro"/>
              </a:rPr>
              <a:t>Vậy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những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lợi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ích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khi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học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ngành</a:t>
            </a:r>
            <a:r>
              <a:rPr lang="en-US" sz="2800" dirty="0">
                <a:latin typeface="Readex Pro"/>
              </a:rPr>
              <a:t> CNTT </a:t>
            </a:r>
            <a:r>
              <a:rPr lang="en-US" sz="2800" dirty="0" err="1">
                <a:latin typeface="Readex Pro"/>
              </a:rPr>
              <a:t>là</a:t>
            </a:r>
            <a:r>
              <a:rPr lang="en-US" sz="2800" dirty="0">
                <a:latin typeface="Readex Pro"/>
              </a:rPr>
              <a:t> </a:t>
            </a:r>
            <a:r>
              <a:rPr lang="en-US" sz="2800" dirty="0" err="1">
                <a:latin typeface="Readex Pro"/>
              </a:rPr>
              <a:t>gì</a:t>
            </a:r>
            <a:r>
              <a:rPr lang="en-US" sz="2800" dirty="0">
                <a:latin typeface="Readex Pro"/>
              </a:rPr>
              <a:t>?”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756AB72-3D8B-0B0E-393D-72EB562534C6}"/>
              </a:ext>
            </a:extLst>
          </p:cNvPr>
          <p:cNvSpPr txBox="1">
            <a:spLocks/>
          </p:cNvSpPr>
          <p:nvPr/>
        </p:nvSpPr>
        <p:spPr>
          <a:xfrm>
            <a:off x="838200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B0F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err="1">
                <a:latin typeface="K2D"/>
              </a:rPr>
              <a:t>Ví</a:t>
            </a:r>
            <a:r>
              <a:rPr lang="en-US" sz="3200" dirty="0">
                <a:latin typeface="K2D"/>
              </a:rPr>
              <a:t> </a:t>
            </a:r>
            <a:r>
              <a:rPr lang="en-US" sz="3200" dirty="0" err="1">
                <a:latin typeface="K2D"/>
              </a:rPr>
              <a:t>dụ</a:t>
            </a:r>
            <a:r>
              <a:rPr lang="en-US" sz="3200" dirty="0">
                <a:latin typeface="K2D"/>
              </a:rPr>
              <a:t> </a:t>
            </a:r>
            <a:r>
              <a:rPr lang="en-US" sz="3200" dirty="0" err="1">
                <a:latin typeface="K2D"/>
              </a:rPr>
              <a:t>sử</a:t>
            </a:r>
            <a:r>
              <a:rPr lang="en-US" sz="3200" dirty="0">
                <a:latin typeface="K2D"/>
              </a:rPr>
              <a:t> </a:t>
            </a:r>
            <a:r>
              <a:rPr lang="en-US" sz="3200" dirty="0" err="1">
                <a:latin typeface="K2D"/>
              </a:rPr>
              <a:t>dụng</a:t>
            </a:r>
            <a:r>
              <a:rPr lang="en-US" sz="3200" dirty="0">
                <a:latin typeface="K2D"/>
              </a:rPr>
              <a:t> </a:t>
            </a:r>
            <a:r>
              <a:rPr lang="en-US" sz="3200" dirty="0" err="1">
                <a:latin typeface="K2D"/>
              </a:rPr>
              <a:t>một</a:t>
            </a:r>
            <a:r>
              <a:rPr lang="en-US" sz="3200" dirty="0">
                <a:latin typeface="K2D"/>
              </a:rPr>
              <a:t> </a:t>
            </a:r>
            <a:r>
              <a:rPr lang="en-US" sz="3200" dirty="0" err="1">
                <a:latin typeface="K2D"/>
              </a:rPr>
              <a:t>đoạn</a:t>
            </a:r>
            <a:r>
              <a:rPr lang="en-US" sz="3200" dirty="0">
                <a:latin typeface="K2D"/>
              </a:rPr>
              <a:t> </a:t>
            </a:r>
            <a:r>
              <a:rPr lang="en-US" sz="3200" dirty="0" err="1">
                <a:latin typeface="K2D"/>
              </a:rPr>
              <a:t>trích</a:t>
            </a:r>
            <a:r>
              <a:rPr lang="en-US" sz="3200" dirty="0">
                <a:latin typeface="K2D"/>
              </a:rPr>
              <a:t> </a:t>
            </a:r>
            <a:r>
              <a:rPr lang="en-US" sz="3200" dirty="0" err="1">
                <a:latin typeface="K2D"/>
              </a:rPr>
              <a:t>dẫn</a:t>
            </a:r>
            <a:r>
              <a:rPr lang="en-US" sz="3200" dirty="0">
                <a:latin typeface="K2D"/>
              </a:rPr>
              <a:t> </a:t>
            </a:r>
            <a:r>
              <a:rPr lang="en-US" sz="3200" dirty="0" err="1">
                <a:latin typeface="K2D"/>
              </a:rPr>
              <a:t>khi</a:t>
            </a:r>
            <a:r>
              <a:rPr lang="en-US" sz="3200" dirty="0">
                <a:latin typeface="K2D"/>
              </a:rPr>
              <a:t> </a:t>
            </a:r>
            <a:r>
              <a:rPr lang="en-US" sz="3200" dirty="0" err="1">
                <a:latin typeface="K2D"/>
              </a:rPr>
              <a:t>giới</a:t>
            </a:r>
            <a:r>
              <a:rPr lang="en-US" sz="3200" dirty="0">
                <a:latin typeface="K2D"/>
              </a:rPr>
              <a:t> </a:t>
            </a:r>
            <a:r>
              <a:rPr lang="en-US" sz="3200" dirty="0" err="1">
                <a:latin typeface="K2D"/>
              </a:rPr>
              <a:t>thiệu</a:t>
            </a:r>
            <a:r>
              <a:rPr lang="en-US" sz="3200" dirty="0">
                <a:latin typeface="K2D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E80D3D-D46E-EC1E-A6FC-62DD6B3020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04" y="630347"/>
            <a:ext cx="532496" cy="532496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C6249F1-C224-2C72-A419-63D8DE3FC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631" y="6336485"/>
            <a:ext cx="328590" cy="256626"/>
          </a:xfrm>
          <a:solidFill>
            <a:srgbClr val="00B0F0"/>
          </a:solidFill>
        </p:spPr>
        <p:txBody>
          <a:bodyPr/>
          <a:lstStyle>
            <a:lvl1pPr algn="ctr">
              <a:defRPr/>
            </a:lvl1pPr>
          </a:lstStyle>
          <a:p>
            <a:pPr algn="ctr"/>
            <a:fld id="{9ED14E6A-7744-4277-B63E-90309E0D9F07}" type="slidenum">
              <a:rPr lang="en-US" smtClean="0"/>
              <a:pPr algn="ctr"/>
              <a:t>7</a:t>
            </a:fld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A5E39F-7D7A-1647-E9A0-8A9EBBC0F92C}"/>
              </a:ext>
            </a:extLst>
          </p:cNvPr>
          <p:cNvSpPr txBox="1"/>
          <p:nvPr/>
        </p:nvSpPr>
        <p:spPr>
          <a:xfrm>
            <a:off x="305704" y="6272713"/>
            <a:ext cx="756745" cy="369332"/>
          </a:xfrm>
          <a:prstGeom prst="rect">
            <a:avLst/>
          </a:prstGeom>
          <a:solidFill>
            <a:srgbClr val="00B0F0"/>
          </a:solidFill>
        </p:spPr>
        <p:txBody>
          <a:bodyPr wrap="square" numCol="1" rtlCol="0" anchor="ctr">
            <a:spAutoFit/>
          </a:bodyPr>
          <a:lstStyle/>
          <a:p>
            <a:pPr algn="ctr"/>
            <a:r>
              <a:rPr lang="vi-VN" b="1" dirty="0">
                <a:solidFill>
                  <a:schemeClr val="bg1"/>
                </a:solidFill>
                <a:latin typeface="K2D"/>
              </a:rPr>
              <a:t>CTU</a:t>
            </a:r>
            <a:endParaRPr lang="en-US" b="1" dirty="0">
              <a:solidFill>
                <a:schemeClr val="bg1"/>
              </a:solidFill>
              <a:latin typeface="K2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667913-CB4E-EFC1-C13D-40E503AE5605}"/>
              </a:ext>
            </a:extLst>
          </p:cNvPr>
          <p:cNvSpPr txBox="1"/>
          <p:nvPr/>
        </p:nvSpPr>
        <p:spPr>
          <a:xfrm>
            <a:off x="999400" y="6241936"/>
            <a:ext cx="17342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0070C0"/>
                </a:solidFill>
                <a:latin typeface="K2D"/>
              </a:rPr>
              <a:t>ĐẠI HỌC CẦN THƠ</a:t>
            </a:r>
          </a:p>
          <a:p>
            <a:r>
              <a:rPr lang="vi-VN" sz="800" dirty="0">
                <a:solidFill>
                  <a:srgbClr val="00B0F0"/>
                </a:solidFill>
                <a:latin typeface="Readex Pro"/>
              </a:rPr>
              <a:t>Cộng đồng – Toàn diện – Ưu việt</a:t>
            </a:r>
            <a:endParaRPr lang="en-US" sz="800" dirty="0">
              <a:solidFill>
                <a:srgbClr val="00B0F0"/>
              </a:solidFill>
              <a:latin typeface="Readex Pr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BC94545-758B-0682-5045-26B7560831FC}"/>
              </a:ext>
            </a:extLst>
          </p:cNvPr>
          <p:cNvSpPr txBox="1"/>
          <p:nvPr/>
        </p:nvSpPr>
        <p:spPr>
          <a:xfrm>
            <a:off x="9908230" y="6287972"/>
            <a:ext cx="1586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www.ctu.edu.vn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2E7AB96-31AC-CDA8-A1A9-41F7DACA9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1" y="6227653"/>
            <a:ext cx="9051225" cy="195668"/>
          </a:xfrm>
          <a:prstGeom prst="rect">
            <a:avLst/>
          </a:prstGeom>
        </p:spPr>
      </p:pic>
      <p:sp>
        <p:nvSpPr>
          <p:cNvPr id="2" name="Action Button: Go Back or Previous 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BE2B5E19-3BBB-84DF-462D-E0DE7D33B9EC}"/>
              </a:ext>
            </a:extLst>
          </p:cNvPr>
          <p:cNvSpPr/>
          <p:nvPr/>
        </p:nvSpPr>
        <p:spPr>
          <a:xfrm>
            <a:off x="9412014" y="630347"/>
            <a:ext cx="1213945" cy="945776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73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5D16C-BCF5-33CE-9CDB-0A71E3B28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vi-VN" dirty="0">
                <a:latin typeface="Readex Pro"/>
              </a:rPr>
              <a:t>Bảng thống kê kết quả tuyển sinh 2020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C07FA95-FFB1-428C-E6B3-F2BA66650BFA}"/>
              </a:ext>
            </a:extLst>
          </p:cNvPr>
          <p:cNvSpPr txBox="1">
            <a:spLocks/>
          </p:cNvSpPr>
          <p:nvPr/>
        </p:nvSpPr>
        <p:spPr>
          <a:xfrm>
            <a:off x="838200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B0F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3200" dirty="0"/>
              <a:t>Ví dụ minh chứng một vấn đề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014513-62E4-0F41-3777-655DE59381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313" y="946900"/>
            <a:ext cx="431887" cy="4318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7A64A1-53CB-A4CA-307E-510A72D9C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574" y="2322768"/>
            <a:ext cx="6640813" cy="3895482"/>
          </a:xfrm>
          <a:prstGeom prst="rect">
            <a:avLst/>
          </a:prstGeom>
        </p:spPr>
      </p:pic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E2AE46D-D8D7-5818-52CA-8A1552CF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9631" y="6327082"/>
            <a:ext cx="328590" cy="256626"/>
          </a:xfrm>
          <a:solidFill>
            <a:srgbClr val="00B0F0"/>
          </a:solidFill>
        </p:spPr>
        <p:txBody>
          <a:bodyPr/>
          <a:lstStyle>
            <a:lvl1pPr algn="ctr">
              <a:defRPr/>
            </a:lvl1pPr>
          </a:lstStyle>
          <a:p>
            <a:pPr algn="ctr"/>
            <a:fld id="{9ED14E6A-7744-4277-B63E-90309E0D9F07}" type="slidenum">
              <a:rPr lang="en-US" smtClean="0"/>
              <a:pPr algn="ctr"/>
              <a:t>8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2F7400-CBE6-8EEF-BD3A-4FA73C930D77}"/>
              </a:ext>
            </a:extLst>
          </p:cNvPr>
          <p:cNvSpPr txBox="1"/>
          <p:nvPr/>
        </p:nvSpPr>
        <p:spPr>
          <a:xfrm>
            <a:off x="305704" y="6263310"/>
            <a:ext cx="756745" cy="369332"/>
          </a:xfrm>
          <a:prstGeom prst="rect">
            <a:avLst/>
          </a:prstGeom>
          <a:solidFill>
            <a:srgbClr val="00B0F0"/>
          </a:solidFill>
        </p:spPr>
        <p:txBody>
          <a:bodyPr wrap="square" numCol="1" rtlCol="0" anchor="ctr">
            <a:spAutoFit/>
          </a:bodyPr>
          <a:lstStyle/>
          <a:p>
            <a:pPr algn="ctr"/>
            <a:r>
              <a:rPr lang="vi-VN" b="1" dirty="0">
                <a:solidFill>
                  <a:schemeClr val="bg1"/>
                </a:solidFill>
                <a:latin typeface="K2D"/>
              </a:rPr>
              <a:t>CTU</a:t>
            </a:r>
            <a:endParaRPr lang="en-US" b="1" dirty="0">
              <a:solidFill>
                <a:schemeClr val="bg1"/>
              </a:solidFill>
              <a:latin typeface="K2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FA34C6-3FFF-4E64-8DC6-CE937709A32F}"/>
              </a:ext>
            </a:extLst>
          </p:cNvPr>
          <p:cNvSpPr txBox="1"/>
          <p:nvPr/>
        </p:nvSpPr>
        <p:spPr>
          <a:xfrm>
            <a:off x="999400" y="6232533"/>
            <a:ext cx="173420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1400" b="1" dirty="0">
                <a:solidFill>
                  <a:srgbClr val="0070C0"/>
                </a:solidFill>
                <a:latin typeface="K2D"/>
              </a:rPr>
              <a:t>ĐẠI HỌC CẦN THƠ</a:t>
            </a:r>
          </a:p>
          <a:p>
            <a:r>
              <a:rPr lang="vi-VN" sz="800" dirty="0">
                <a:solidFill>
                  <a:srgbClr val="00B0F0"/>
                </a:solidFill>
                <a:latin typeface="Readex Pro"/>
              </a:rPr>
              <a:t>Cộng đồng – Toàn diện – Ưu việt</a:t>
            </a:r>
            <a:endParaRPr lang="en-US" sz="800" dirty="0">
              <a:solidFill>
                <a:srgbClr val="00B0F0"/>
              </a:solidFill>
              <a:latin typeface="Readex Pro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1FAC9C-FCF3-6186-34FC-4303DE5802D0}"/>
              </a:ext>
            </a:extLst>
          </p:cNvPr>
          <p:cNvSpPr txBox="1"/>
          <p:nvPr/>
        </p:nvSpPr>
        <p:spPr>
          <a:xfrm>
            <a:off x="9908230" y="6278569"/>
            <a:ext cx="1586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B0F0"/>
                </a:solidFill>
              </a:rPr>
              <a:t>www.ctu.edu.vn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433408-0491-8A7F-10E3-308F6672A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601" y="6218250"/>
            <a:ext cx="9051225" cy="195668"/>
          </a:xfrm>
          <a:prstGeom prst="rect">
            <a:avLst/>
          </a:prstGeom>
        </p:spPr>
      </p:pic>
      <p:sp>
        <p:nvSpPr>
          <p:cNvPr id="2" name="Action Button: Go Back or Previous 1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AAD43D83-D9A1-7A88-353D-0C89512712E8}"/>
              </a:ext>
            </a:extLst>
          </p:cNvPr>
          <p:cNvSpPr/>
          <p:nvPr/>
        </p:nvSpPr>
        <p:spPr>
          <a:xfrm>
            <a:off x="7583214" y="772510"/>
            <a:ext cx="993227" cy="857447"/>
          </a:xfrm>
          <a:prstGeom prst="actionButtonBackPrevio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13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460</Words>
  <Application>Microsoft Office PowerPoint</Application>
  <PresentationFormat>Widescreen</PresentationFormat>
  <Paragraphs>75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K2D</vt:lpstr>
      <vt:lpstr>Readex Pro</vt:lpstr>
      <vt:lpstr>Office Theme</vt:lpstr>
      <vt:lpstr>BỐ CỤC MỘT BÀI THUYẾT TRÌNH</vt:lpstr>
      <vt:lpstr>PowerPoint Presentation</vt:lpstr>
      <vt:lpstr>Phần mở đầu</vt:lpstr>
      <vt:lpstr>Phần chính</vt:lpstr>
      <vt:lpstr>Phần kết</vt:lpstr>
      <vt:lpstr>Cảm ơn sự chú ý của quý vị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thanhnguen2k8@gmail.com</dc:creator>
  <cp:lastModifiedBy>thanhnguen2k8@gmail.com</cp:lastModifiedBy>
  <cp:revision>2</cp:revision>
  <dcterms:created xsi:type="dcterms:W3CDTF">2026-09-20T06:38:14Z</dcterms:created>
  <dcterms:modified xsi:type="dcterms:W3CDTF">2026-09-20T13:55:27Z</dcterms:modified>
</cp:coreProperties>
</file>